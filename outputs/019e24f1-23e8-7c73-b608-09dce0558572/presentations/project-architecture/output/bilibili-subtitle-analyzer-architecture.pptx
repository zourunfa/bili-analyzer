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676656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758952"/>
            <a:ext cx="1408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Next.js 16 / Prisma / AI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026"/>
                </a:solidFill>
              </a:rPr>
              <a:t>Bilibili Subtitle Analyzer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03504" y="1938528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83B56"/>
                </a:solidFill>
              </a:rPr>
              <a:t>项目架构图、架构解析、数据库表图与 ER 图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3504" y="2542032"/>
            <a:ext cx="608076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6B73"/>
                </a:solidFill>
              </a:rPr>
              <a:t>一个从多平台视频链接出发，经字幕/转写、LLM 摘要对话、知识沉淀，到 PostgreSQL 检索与笔记组织的 Next.js BFF 全栈应用。</a:t>
            </a:r>
            <a:endParaRPr lang="en-US" sz="1300" dirty="0"/>
          </a:p>
        </p:txBody>
      </p:sp>
      <p:pic>
        <p:nvPicPr>
          <p:cNvPr id="8" name="Image 0" descr="/Users/a1804491927/Code/open-source/bilibili-subtitle-analyzer/outputs/019e24f1-23e8-7c73-b608-09dce0558572/presentations/project-architecture/asset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841248"/>
            <a:ext cx="4901184" cy="2761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720840" y="3886200"/>
            <a:ext cx="4901184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95160" y="4160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6"/>
                </a:solidFill>
              </a:rPr>
              <a:t>交付内容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022592" y="4590288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87184" y="4517136"/>
            <a:ext cx="4114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26"/>
                </a:solidFill>
              </a:rPr>
              <a:t>1. 项目总体架构图 + 架构解析 PPT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022592" y="5010912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87184" y="4937760"/>
            <a:ext cx="4114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26"/>
                </a:solidFill>
              </a:rPr>
              <a:t>2. 数据库表图（按领域分组）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022592" y="5431536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87184" y="5358384"/>
            <a:ext cx="4114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26"/>
                </a:solidFill>
              </a:rPr>
              <a:t>3. ER 图（实体关系与基数）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11480" y="6473952"/>
            <a:ext cx="6675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Bilibili Subtitle Analyzer / VideoNote 架构解析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201400" y="64739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一页看懂：项目总体架构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3"/>
                </a:solidFill>
              </a:rPr>
              <a:t>前端体验、API BFF、领域服务、外部平台、AI 与数据库在一个 Next.js 应用内闭环。</a:t>
            </a:r>
            <a:endParaRPr lang="en-US" sz="950" dirty="0"/>
          </a:p>
        </p:txBody>
      </p:sp>
      <p:pic>
        <p:nvPicPr>
          <p:cNvPr id="4" name="Image 0" descr="/Users/a1804491927/Code/open-source/bilibili-subtitle-analyzer/outputs/019e24f1-23e8-7c73-b608-09dce0558572/presentations/project-architecture/asset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987552"/>
            <a:ext cx="11292840" cy="5532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6473952"/>
            <a:ext cx="6675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Bilibili Subtitle Analyzer / VideoNote 架构解析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201400" y="64739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架构解析：BFF 是系统的中枢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3"/>
                </a:solidFill>
              </a:rPr>
              <a:t>Next.js API Routes 不只是转发，而是在服务端完成鉴权、平台适配、字幕降级、流式 AI 与数据写入。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310128" cy="1572768"/>
          </a:xfrm>
          <a:prstGeom prst="roundRect">
            <a:avLst>
              <a:gd name="adj" fmla="val 4651"/>
            </a:avLst>
          </a:prstGeom>
          <a:solidFill>
            <a:srgbClr val="EAF3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173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6"/>
                </a:solidFill>
              </a:rPr>
              <a:t>用户入口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1801368"/>
            <a:ext cx="28803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E6B73"/>
                </a:solidFill>
              </a:rPr>
              <a:t>app/page.tsx、analyze/[bvid]、notebooks、search、upowner 组成主要体验面。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315968" y="1234440"/>
            <a:ext cx="331012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17136" y="14173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6"/>
                </a:solidFill>
              </a:rPr>
              <a:t>BFF 路由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17136" y="1801368"/>
            <a:ext cx="28803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E6B73"/>
                </a:solidFill>
              </a:rPr>
              <a:t>video-info / subtitle / transcribe / summarize / chat / videos / notebooks 分担边界。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8083296" y="1234440"/>
            <a:ext cx="3310128" cy="1572768"/>
          </a:xfrm>
          <a:prstGeom prst="roundRect">
            <a:avLst>
              <a:gd name="adj" fmla="val 4651"/>
            </a:avLst>
          </a:prstGeom>
          <a:solidFill>
            <a:srgbClr val="E7FAF7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4464" y="14173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6"/>
                </a:solidFill>
              </a:rPr>
              <a:t>领域服务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84464" y="1801368"/>
            <a:ext cx="28803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E6B73"/>
                </a:solidFill>
              </a:rPr>
              <a:t>platform.ts 抽象多平台；bilibili.ts 处理 WBI；douyin/xhs 处理短链与页面解析。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548640" y="3227832"/>
            <a:ext cx="3310128" cy="1572768"/>
          </a:xfrm>
          <a:prstGeom prst="roundRect">
            <a:avLst>
              <a:gd name="adj" fmla="val 4651"/>
            </a:avLst>
          </a:prstGeom>
          <a:solidFill>
            <a:srgbClr val="F1EE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4107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6"/>
                </a:solidFill>
              </a:rPr>
              <a:t>AI 能力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8803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E6B73"/>
                </a:solidFill>
              </a:rPr>
              <a:t>llm.ts 统一多供应商模型；streamText 输出摘要、对话、知识抽取。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315968" y="3227832"/>
            <a:ext cx="3310128" cy="1572768"/>
          </a:xfrm>
          <a:prstGeom prst="roundRect">
            <a:avLst>
              <a:gd name="adj" fmla="val 4651"/>
            </a:avLst>
          </a:prstGeom>
          <a:solidFill>
            <a:srgbClr val="EAF7E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7136" y="34107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6"/>
                </a:solidFill>
              </a:rPr>
              <a:t>数据沉淀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17136" y="3794760"/>
            <a:ext cx="28803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E6B73"/>
                </a:solidFill>
              </a:rPr>
              <a:t>Prisma 连接 PostgreSQL：视频、用户历史、笔记本、知识点、标签、聊天。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083296" y="3227832"/>
            <a:ext cx="3310128" cy="1572768"/>
          </a:xfrm>
          <a:prstGeom prst="roundRect">
            <a:avLst>
              <a:gd name="adj" fmla="val 4651"/>
            </a:avLst>
          </a:prstGeom>
          <a:solidFill>
            <a:srgbClr val="FFF4E5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84464" y="34107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6"/>
                </a:solidFill>
              </a:rPr>
              <a:t>部署形态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84464" y="3794760"/>
            <a:ext cx="28803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E6B73"/>
                </a:solidFill>
              </a:rPr>
              <a:t>本地 Docker 构建 .next/standalone，线上 PM2 运行，Nginx 反代到 3000。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713232" y="57424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B56"/>
                </a:solidFill>
              </a:rPr>
              <a:t>设计结论：应用选择“单体 BFF + 清晰领域模块”，换来部署简单、密钥不暴露、流式体验稳定；风险集中在长任务转写和小内存服务器资源控制。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6473952"/>
            <a:ext cx="6675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Bilibili Subtitle Analyzer / VideoNote 架构解析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201400" y="64739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核心业务链路：从链接到知识资产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3"/>
                </a:solidFill>
              </a:rPr>
              <a:t>系统主流程是解析视频、拿字幕、生成摘要、保存历史，并在后续搜索/笔记本/对话中复用。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920240"/>
            <a:ext cx="1517904" cy="1170432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12700">
            <a:solidFill>
              <a:srgbClr val="B7C4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08483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B56"/>
                </a:solidFill>
              </a:rPr>
              <a:t>1 输入链接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8096" y="2395728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E6B73"/>
                </a:solidFill>
              </a:rPr>
              <a:t>支持 B站、抖音、小红书，也支持分享文案混合输入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2231136" y="2350008"/>
            <a:ext cx="219456" cy="256032"/>
          </a:xfrm>
          <a:prstGeom prst="chevron">
            <a:avLst/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920240"/>
            <a:ext cx="151790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B7C4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0048" y="208483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B56"/>
                </a:solidFill>
              </a:rPr>
              <a:t>2 平台识别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70048" y="2395728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E6B73"/>
                </a:solidFill>
              </a:rPr>
              <a:t>detectPlatform + extractVideoId 解析 bvid / aweme_id / noteId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4133088" y="2350008"/>
            <a:ext cx="219456" cy="256032"/>
          </a:xfrm>
          <a:prstGeom prst="chevron">
            <a:avLst/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62272" y="1920240"/>
            <a:ext cx="1517904" cy="1170432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12700">
            <a:solidFill>
              <a:srgbClr val="B7C4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08483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B56"/>
                </a:solidFill>
              </a:rPr>
              <a:t>3 获取元信息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395728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E6B73"/>
                </a:solidFill>
              </a:rPr>
              <a:t>封面、标题、作者、时长、CID、分 P 信息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6035040" y="2350008"/>
            <a:ext cx="219456" cy="256032"/>
          </a:xfrm>
          <a:prstGeom prst="chevron">
            <a:avLst/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64224" y="1920240"/>
            <a:ext cx="151790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B7C4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208483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B56"/>
                </a:solidFill>
              </a:rPr>
              <a:t>4 字幕链路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73952" y="2395728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E6B73"/>
                </a:solidFill>
              </a:rPr>
              <a:t>CC 字幕优先；无字幕下载音频并走 VideoCaptioner 转写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7936992" y="2350008"/>
            <a:ext cx="219456" cy="256032"/>
          </a:xfrm>
          <a:prstGeom prst="chevron">
            <a:avLst/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66176" y="1920240"/>
            <a:ext cx="1517904" cy="1170432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12700">
            <a:solidFill>
              <a:srgbClr val="B7C4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75904" y="208483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B56"/>
                </a:solidFill>
              </a:rPr>
              <a:t>5 AI 生成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75904" y="2395728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E6B73"/>
                </a:solidFill>
              </a:rPr>
              <a:t>摘要、对话、知识点抽取通过 streamText 流式返回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9838944" y="2350008"/>
            <a:ext cx="219456" cy="256032"/>
          </a:xfrm>
          <a:prstGeom prst="chevron">
            <a:avLst/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68128" y="1920240"/>
            <a:ext cx="151790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B7C4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77856" y="208483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B56"/>
                </a:solidFill>
              </a:rPr>
              <a:t>6 数据沉淀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77856" y="2395728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E6B73"/>
                </a:solidFill>
              </a:rPr>
              <a:t>videos / user_videos / knowledge_points / notebooks 等表复用资产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713232" y="3950208"/>
            <a:ext cx="5212080" cy="1042416"/>
          </a:xfrm>
          <a:prstGeom prst="roundRect">
            <a:avLst>
              <a:gd name="adj" fmla="val 7018"/>
            </a:avLst>
          </a:prstGeom>
          <a:solidFill>
            <a:srgbClr val="FFF4E5"/>
          </a:solidFill>
          <a:ln w="12700">
            <a:solidFill>
              <a:srgbClr val="F2B1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1879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6"/>
                </a:solidFill>
              </a:rPr>
              <a:t>关键降级策略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377440" y="407822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B73"/>
                </a:solidFill>
              </a:rPr>
              <a:t>字幕优先走平台 CC，速度最快；缺失时才进入下载与转写。生产环境用 TRANSCRIBE_MAX_CONCURRENCY=1、音频大小限制和超时控制避免小服务器被长任务拖垮。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09360" y="3950208"/>
            <a:ext cx="5212080" cy="1042416"/>
          </a:xfrm>
          <a:prstGeom prst="roundRect">
            <a:avLst>
              <a:gd name="adj" fmla="val 7018"/>
            </a:avLst>
          </a:prstGeom>
          <a:solidFill>
            <a:srgbClr val="EAF7EE"/>
          </a:solidFill>
          <a:ln w="12700">
            <a:solidFill>
              <a:srgbClr val="7CCB9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5392" y="4187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6"/>
                </a:solidFill>
              </a:rPr>
              <a:t>核心资产复用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001000" y="411480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B73"/>
                </a:solidFill>
              </a:rPr>
              <a:t>同一视频记录沉淀字幕、摘要和知识点；不同用户通过 user_videos、notes、tags、chat_messages 做个性化隔离。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" y="6473952"/>
            <a:ext cx="6675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Bilibili Subtitle Analyzer / VideoNote 架构解析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201400" y="64739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模块边界：平台、字幕、AI、知识四条主干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3"/>
                </a:solidFill>
              </a:rPr>
              <a:t>源码结构已经把“平台接入”和“业务应用”分开，后续扩平台或换模型的改动半径较小。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1874520" cy="841248"/>
          </a:xfrm>
          <a:prstGeom prst="roundRect">
            <a:avLst>
              <a:gd name="adj" fmla="val 8696"/>
            </a:avLst>
          </a:prstGeom>
          <a:solidFill>
            <a:srgbClr val="EAF3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721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26"/>
                </a:solidFill>
              </a:rPr>
              <a:t>平台接入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188720"/>
            <a:ext cx="34747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325880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3B56"/>
                </a:solidFill>
              </a:rPr>
              <a:t>src/lib/platform.ts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83B56"/>
                </a:solidFill>
              </a:rPr>
              <a:t>src/lib/bilibili.ts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83B56"/>
                </a:solidFill>
              </a:rPr>
              <a:t>src/lib/douyin.ts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83B56"/>
                </a:solidFill>
              </a:rPr>
              <a:t>src/lib/xiaohongshu.ts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547104" y="1188720"/>
            <a:ext cx="490118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84848" y="143560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3"/>
                </a:solidFill>
              </a:rPr>
              <a:t>解析 ID、抓元信息、处理短链、B站 WBI 签名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423160"/>
            <a:ext cx="1874520" cy="841248"/>
          </a:xfrm>
          <a:prstGeom prst="roundRect">
            <a:avLst>
              <a:gd name="adj" fmla="val 8696"/>
            </a:avLst>
          </a:prstGeom>
          <a:solidFill>
            <a:srgbClr val="FFF4E5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7066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26"/>
                </a:solidFill>
              </a:rPr>
              <a:t>字幕/转写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2423160"/>
            <a:ext cx="34747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2560320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3B56"/>
                </a:solidFill>
              </a:rPr>
              <a:t>src/app/api/subtitle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83B56"/>
                </a:solidFill>
              </a:rPr>
              <a:t>src/app/api/transcribe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83B56"/>
                </a:solidFill>
              </a:rPr>
              <a:t>src/lib/videocaptioner.ts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6547104" y="2423160"/>
            <a:ext cx="490118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84848" y="267004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3"/>
                </a:solidFill>
              </a:rPr>
              <a:t>CC 字幕、音频下载、SRT 解析、临时文件清理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657600"/>
            <a:ext cx="1874520" cy="841248"/>
          </a:xfrm>
          <a:prstGeom prst="roundRect">
            <a:avLst>
              <a:gd name="adj" fmla="val 8696"/>
            </a:avLst>
          </a:prstGeom>
          <a:solidFill>
            <a:srgbClr val="F1EE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9410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26"/>
                </a:solidFill>
              </a:rPr>
              <a:t>AI 编排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0" y="3657600"/>
            <a:ext cx="34747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3794760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3B56"/>
                </a:solidFill>
              </a:rPr>
              <a:t>src/lib/llm.ts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83B56"/>
                </a:solidFill>
              </a:rPr>
              <a:t>src/lib/prompts.ts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83B56"/>
                </a:solidFill>
              </a:rPr>
              <a:t>/api/summarize / chat / knowledge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6547104" y="3657600"/>
            <a:ext cx="490118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4848" y="390448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3"/>
                </a:solidFill>
              </a:rPr>
              <a:t>多供应商模型、流式输出、知识点抽取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892040"/>
            <a:ext cx="1874520" cy="841248"/>
          </a:xfrm>
          <a:prstGeom prst="roundRect">
            <a:avLst>
              <a:gd name="adj" fmla="val 8696"/>
            </a:avLst>
          </a:prstGeom>
          <a:solidFill>
            <a:srgbClr val="EAF7E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5175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26"/>
                </a:solidFill>
              </a:rPr>
              <a:t>知识产品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0" y="4892040"/>
            <a:ext cx="34747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5029200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3B56"/>
                </a:solidFill>
              </a:rPr>
              <a:t>/api/videos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83B56"/>
                </a:solidFill>
              </a:rPr>
              <a:t>/api/notebooks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83B56"/>
                </a:solidFill>
              </a:rPr>
              <a:t>/api/search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83B56"/>
                </a:solidFill>
              </a:rPr>
              <a:t>/api/tags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6547104" y="4892040"/>
            <a:ext cx="490118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84848" y="51389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3"/>
                </a:solidFill>
              </a:rPr>
              <a:t>历史、笔记本、标签、搜索、聊天记录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1480" y="6473952"/>
            <a:ext cx="6675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Bilibili Subtitle Analyzer / VideoNote 架构解析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201400" y="64739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部署架构：小内存服务器的 standalone 发布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3"/>
                </a:solidFill>
              </a:rPr>
              <a:t>推荐路径是本地/CI 构建，服务器只解压 release 并由 PM2 运行，避免 2G ECS 上 npm/build 卡死。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2926080" cy="4526280"/>
          </a:xfrm>
          <a:prstGeom prst="roundRect">
            <a:avLst>
              <a:gd name="adj" fmla="val 2500"/>
            </a:avLst>
          </a:prstGeom>
          <a:solidFill>
            <a:srgbClr val="EAF3FF"/>
          </a:solidFill>
          <a:ln w="12700">
            <a:solidFill>
              <a:srgbClr val="8BBD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813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6"/>
                </a:solidFill>
              </a:rPr>
              <a:t>构建侧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32688" y="1975104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901952"/>
            <a:ext cx="2240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6"/>
                </a:solidFill>
              </a:rPr>
              <a:t>Docker linux/amd64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32688" y="2395728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322576"/>
            <a:ext cx="2240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6"/>
                </a:solidFill>
              </a:rPr>
              <a:t>npm ci + next build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32688" y="2816352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743200"/>
            <a:ext cx="2240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6"/>
                </a:solidFill>
              </a:rPr>
              <a:t>复制 public 与 .next/static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32688" y="3236976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163824"/>
            <a:ext cx="2240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6"/>
                </a:solidFill>
              </a:rPr>
              <a:t>打包 standalone tar.gz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03904" y="3017520"/>
            <a:ext cx="384048" cy="457200"/>
          </a:xfrm>
          <a:prstGeom prst="chevron">
            <a:avLst/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62272" y="1170432"/>
            <a:ext cx="2926080" cy="4526280"/>
          </a:xfrm>
          <a:prstGeom prst="roundRect">
            <a:avLst>
              <a:gd name="adj" fmla="val 2500"/>
            </a:avLst>
          </a:prstGeom>
          <a:solidFill>
            <a:srgbClr val="FFF4E5"/>
          </a:solidFill>
          <a:ln w="12700">
            <a:solidFill>
              <a:srgbClr val="F2B1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4813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6"/>
                </a:solidFill>
              </a:rPr>
              <a:t>服务器 release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09160" y="1975104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901952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6"/>
                </a:solidFill>
              </a:rPr>
              <a:t>/root/bili-analyzer-standalone/uploads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395728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2322576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6"/>
                </a:solidFill>
              </a:rPr>
              <a:t>/releases/&lt;commit&gt;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816352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743200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6"/>
                </a:solidFill>
              </a:rPr>
              <a:t>current -&gt; releases/&lt;commit&gt;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236976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3163824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6"/>
                </a:solidFill>
              </a:rPr>
              <a:t>复制 .env / data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07808" y="3017520"/>
            <a:ext cx="384048" cy="457200"/>
          </a:xfrm>
          <a:prstGeom prst="chevron">
            <a:avLst/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75320" y="1170432"/>
            <a:ext cx="2926080" cy="4526280"/>
          </a:xfrm>
          <a:prstGeom prst="roundRect">
            <a:avLst>
              <a:gd name="adj" fmla="val 2500"/>
            </a:avLst>
          </a:prstGeom>
          <a:solidFill>
            <a:srgbClr val="EAF7EE"/>
          </a:solidFill>
          <a:ln w="12700">
            <a:solidFill>
              <a:srgbClr val="7CCB9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22208" y="14813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6"/>
                </a:solidFill>
              </a:rPr>
              <a:t>运行侧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522208" y="1975104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1901952"/>
            <a:ext cx="2240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6"/>
                </a:solidFill>
              </a:rPr>
              <a:t>PM2: subtitle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22208" y="2395728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0" y="2322576"/>
            <a:ext cx="2240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6"/>
                </a:solidFill>
              </a:rPr>
              <a:t>start-server.js 读取 env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522208" y="2816352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0" y="2743200"/>
            <a:ext cx="2240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6"/>
                </a:solidFill>
              </a:rPr>
              <a:t>Nginx -&gt; 127.0.0.1:3000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522208" y="3236976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0" y="3163824"/>
            <a:ext cx="2240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26"/>
                </a:solidFill>
              </a:rPr>
              <a:t>公网 www.afai.asia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" y="60533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83B56"/>
                </a:solidFill>
              </a:rPr>
              <a:t>运维要点：迁移要在 release 切换前完成；不要在 2G 线上机器跑完整 npm install/build。长任务转写需要并发、大小、超时三道护栏。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411480" y="6473952"/>
            <a:ext cx="6675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Bilibili Subtitle Analyzer / VideoNote 架构解析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201400" y="64739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数据库表图：按职责域分组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3"/>
                </a:solidFill>
              </a:rPr>
              <a:t>13 张表围绕 users 和 videos 展开，既支持多用户隔离，也支持知识化复用。</a:t>
            </a:r>
            <a:endParaRPr lang="en-US" sz="950" dirty="0"/>
          </a:p>
        </p:txBody>
      </p:sp>
      <p:pic>
        <p:nvPicPr>
          <p:cNvPr id="4" name="Image 0" descr="/Users/a1804491927/Code/open-source/bilibili-subtitle-analyzer/outputs/019e24f1-23e8-7c73-b608-09dce0558572/presentations/project-architecture/assets/database-ta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987552"/>
            <a:ext cx="11292840" cy="5532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6473952"/>
            <a:ext cx="6675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Bilibili Subtitle Analyzer / VideoNote 架构解析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201400" y="64739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图：实体关系与基数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3"/>
                </a:solidFill>
              </a:rPr>
              <a:t>关联表承担用户历史、笔记本收纳、标签关系三类 N:M 关系；知识点与 embedding 是 1:1 扩展。</a:t>
            </a:r>
            <a:endParaRPr lang="en-US" sz="950" dirty="0"/>
          </a:p>
        </p:txBody>
      </p:sp>
      <p:pic>
        <p:nvPicPr>
          <p:cNvPr id="4" name="Image 0" descr="/Users/a1804491927/Code/open-source/bilibili-subtitle-analyzer/outputs/019e24f1-23e8-7c73-b608-09dce0558572/presentations/project-architecture/assets/er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987552"/>
            <a:ext cx="11292840" cy="5532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6473952"/>
            <a:ext cx="6675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Bilibili Subtitle Analyzer / VideoNote 架构解析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201400" y="64739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数据模型解读：为什么这样拆表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3"/>
                </a:solidFill>
              </a:rPr>
              <a:t>视频内容资产与用户个性化行为分离，既避免重复抓取/转写，也让不同用户的历史、标签、笔记互不污染。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4800600" cy="1389888"/>
          </a:xfrm>
          <a:prstGeom prst="roundRect">
            <a:avLst>
              <a:gd name="adj" fmla="val 5263"/>
            </a:avLst>
          </a:prstGeom>
          <a:solidFill>
            <a:srgbClr val="EAF3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6093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6"/>
                </a:solidFill>
              </a:rPr>
              <a:t>内容资产中心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41832" y="201168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E6B73"/>
                </a:solidFill>
              </a:rPr>
              <a:t>videos 保存 bvid、字幕全文、摘要、来源和知识抽取状态；同一视频只需要沉淀一次。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4800600" cy="1389888"/>
          </a:xfrm>
          <a:prstGeom prst="roundRect">
            <a:avLst>
              <a:gd name="adj" fmla="val 5263"/>
            </a:avLst>
          </a:prstGeom>
          <a:solidFill>
            <a:srgbClr val="EAF7E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6093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6"/>
                </a:solidFill>
              </a:rPr>
              <a:t>用户隔离层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19672" y="201168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E6B73"/>
                </a:solidFill>
              </a:rPr>
              <a:t>user_videos、video_timestamp_notes、video_tags、chat_messages 都带 user_id，保证历史和标注个人化。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685800" y="3273552"/>
            <a:ext cx="4800600" cy="1389888"/>
          </a:xfrm>
          <a:prstGeom prst="roundRect">
            <a:avLst>
              <a:gd name="adj" fmla="val 5263"/>
            </a:avLst>
          </a:prstGeom>
          <a:solidFill>
            <a:srgbClr val="FFF4E5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35112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6"/>
                </a:solidFill>
              </a:rPr>
              <a:t>知识检索层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41832" y="391363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E6B73"/>
                </a:solidFill>
              </a:rPr>
              <a:t>knowledge_points 保存结构化片段，embeddings 用 pgvector 做向量扩展，支持语义检索演进。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263640" y="3273552"/>
            <a:ext cx="4800600" cy="1389888"/>
          </a:xfrm>
          <a:prstGeom prst="roundRect">
            <a:avLst>
              <a:gd name="adj" fmla="val 5263"/>
            </a:avLst>
          </a:prstGeom>
          <a:solidFill>
            <a:srgbClr val="F1EE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35112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6"/>
                </a:solidFill>
              </a:rPr>
              <a:t>组织层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9672" y="391363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E6B73"/>
                </a:solidFill>
              </a:rPr>
              <a:t>notebooks + notebook_videos 让视频资产可以进入手工或规则驱动的学习集合。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22960" y="5532120"/>
            <a:ext cx="10515600" cy="0"/>
          </a:xfrm>
          <a:prstGeom prst="line">
            <a:avLst/>
          </a:prstGeom>
          <a:noFill/>
          <a:ln w="15240">
            <a:solidFill>
              <a:srgbClr val="B7C4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779008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3B56"/>
                </a:solidFill>
              </a:rPr>
              <a:t>索引策略集中在高频查询面：用户历史按 userId+updatedAt，视频关系按 videoId，知识点按 videoId/type，标签关系按 userId+tagId。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6473952"/>
            <a:ext cx="6675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Bilibili Subtitle Analyzer / VideoNote 架构解析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201400" y="64739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后续架构关注点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3"/>
                </a:solidFill>
              </a:rPr>
              <a:t>项目已经形成完整闭环，下一步的主要挑战在异步任务、可观测性和线上资源隔离。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13533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ED"/>
                </a:solidFill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17320" y="12801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26"/>
                </a:solidFill>
              </a:rPr>
              <a:t>转写任务异步化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794760" y="12801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3"/>
                </a:solidFill>
              </a:rPr>
              <a:t>现在长任务仍在 API 请求路径内，建议后续引入队列/任务表，提升失败恢复和进度追踪。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993392"/>
            <a:ext cx="1042416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505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ED"/>
                </a:solidFill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3774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26"/>
                </a:solidFill>
              </a:rPr>
              <a:t>Playwright/抓取依赖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794760" y="237744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3"/>
                </a:solidFill>
              </a:rPr>
              <a:t>抖音/小红书解析依赖页面/XHR，环境依赖和反爬波动需要更强降级与日志观测。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3090672"/>
            <a:ext cx="1042416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5478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ED"/>
                </a:solidFill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4747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26"/>
                </a:solidFill>
              </a:rPr>
              <a:t>迁移与发布分离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94760" y="347472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3"/>
                </a:solidFill>
              </a:rPr>
              <a:t>数据库 migration 不应依赖线上源码目录临时 npm install，可改为 CI migration 或一次性迁移镜像。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4187952"/>
            <a:ext cx="1042416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64515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ED"/>
                </a:solidFill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45720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26"/>
                </a:solidFill>
              </a:rPr>
              <a:t>知识检索增强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794760" y="457200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3"/>
                </a:solidFill>
              </a:rPr>
              <a:t>已有 knowledge_points + embeddings 基础，可补召回评估、重排、引用片段和权限过滤。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5285232"/>
            <a:ext cx="1042416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89788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83B56"/>
                </a:solidFill>
              </a:rPr>
              <a:t>一句话总结：当前架构适合快速迭代和单机部署；当使用量上来，优先把转写/抓取/知识抽取从请求链路拆成可恢复任务。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411480" y="6473952"/>
            <a:ext cx="6675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Bilibili Subtitle Analyzer / VideoNote 架构解析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201400" y="64739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Bilibili Subtitle Analyzer 项目架构解析</dc:title>
  <dc:subject>Bilibili Subtitle Analyzer architecture</dc:subject>
  <dc:creator>Codex</dc:creator>
  <cp:lastModifiedBy>Codex</cp:lastModifiedBy>
  <cp:revision>1</cp:revision>
  <dcterms:created xsi:type="dcterms:W3CDTF">2026-05-14T06:51:11Z</dcterms:created>
  <dcterms:modified xsi:type="dcterms:W3CDTF">2026-05-14T06:51:11Z</dcterms:modified>
</cp:coreProperties>
</file>